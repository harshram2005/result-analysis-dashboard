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3" d="100"/>
          <a:sy n="73" d="100"/>
        </p:scale>
        <p:origin x="1070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python/" TargetMode="External"/><Relationship Id="rId3" Type="http://schemas.openxmlformats.org/officeDocument/2006/relationships/hyperlink" Target="https://pandas.pydata.org/" TargetMode="External"/><Relationship Id="rId7" Type="http://schemas.openxmlformats.org/officeDocument/2006/relationships/hyperlink" Target="https://github.com/jsvine/pdfplumber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penpyxl.readthedocs.io/" TargetMode="External"/><Relationship Id="rId5" Type="http://schemas.openxmlformats.org/officeDocument/2006/relationships/hyperlink" Target="https://matplotlib.org/" TargetMode="External"/><Relationship Id="rId4" Type="http://schemas.openxmlformats.org/officeDocument/2006/relationships/hyperlink" Target="https://numpy.org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8DC6408-DC5D-27DE-96FF-7A2CC59E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491614"/>
            <a:ext cx="9293226" cy="1574254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>
                <a:latin typeface="Algerian" panose="04020705040A02060702" pitchFamily="82" charset="0"/>
              </a:rPr>
            </a:br>
            <a:r>
              <a:rPr lang="en-IN" dirty="0">
                <a:latin typeface="Britannic Bold" panose="020B0903060703020204" pitchFamily="34" charset="0"/>
              </a:rPr>
              <a:t>Modern Education Society’s Wadia College OF  Engineering, Pune – 14 </a:t>
            </a:r>
            <a:br>
              <a:rPr lang="en-IN" dirty="0">
                <a:latin typeface="Britannic Bold" panose="020B0903060703020204" pitchFamily="34" charset="0"/>
              </a:rPr>
            </a:br>
            <a:r>
              <a:rPr lang="en-US" dirty="0">
                <a:latin typeface="Britannic Bold" panose="020B0903060703020204" pitchFamily="34" charset="0"/>
              </a:rPr>
              <a:t>ACCREDITED BY NBA AND NAAC WITH A </a:t>
            </a:r>
            <a:r>
              <a:rPr lang="en-IN" dirty="0">
                <a:latin typeface="Britannic Bold" panose="020B0903060703020204" pitchFamily="34" charset="0"/>
              </a:rPr>
              <a:t>++ GRADE </a:t>
            </a:r>
            <a:br>
              <a:rPr lang="en-IN" dirty="0">
                <a:latin typeface="Britannic Bold" panose="020B0903060703020204" pitchFamily="34" charset="0"/>
              </a:rPr>
            </a:br>
            <a:r>
              <a:rPr lang="en-IN" dirty="0">
                <a:latin typeface="Britannic Bold" panose="020B0903060703020204" pitchFamily="34" charset="0"/>
                <a:cs typeface="Aparajita" panose="02020603050405020304" pitchFamily="18" charset="0"/>
              </a:rPr>
              <a:t>A.Y.: 2025-26</a:t>
            </a:r>
            <a:br>
              <a:rPr lang="en-IN" dirty="0">
                <a:latin typeface="Algerian" panose="04020705040A02060702" pitchFamily="82" charset="0"/>
                <a:cs typeface="Aparajita" panose="02020603050405020304" pitchFamily="18" charset="0"/>
              </a:rPr>
            </a:b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C551C40-61A4-6116-3625-A40729C36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3048000"/>
            <a:ext cx="10131425" cy="2743200"/>
          </a:xfrm>
        </p:spPr>
        <p:txBody>
          <a:bodyPr>
            <a:normAutofit fontScale="25000" lnSpcReduction="20000"/>
          </a:bodyPr>
          <a:lstStyle/>
          <a:p>
            <a:pPr marL="0" indent="0" algn="ctr">
              <a:buNone/>
            </a:pPr>
            <a:r>
              <a:rPr lang="en-IN" sz="9600" dirty="0">
                <a:latin typeface="Britannic Bold" panose="020B0903060703020204" pitchFamily="34" charset="0"/>
                <a:cs typeface="Aparajita" panose="02020603050405020304" pitchFamily="18" charset="0"/>
              </a:rPr>
              <a:t>RESEARCH  INTERNSHIP</a:t>
            </a:r>
          </a:p>
          <a:p>
            <a:pPr algn="ctr"/>
            <a:endParaRPr lang="en-IN" sz="2000" dirty="0">
              <a:latin typeface="Algerian" panose="04020705040A02060702" pitchFamily="82" charset="0"/>
              <a:cs typeface="Aparajita" panose="02020603050405020304" pitchFamily="18" charset="0"/>
            </a:endParaRPr>
          </a:p>
          <a:p>
            <a:pPr marL="0" indent="0" algn="ctr">
              <a:buNone/>
            </a:pPr>
            <a:r>
              <a:rPr lang="en-IN" sz="9600" b="1" u="sng" dirty="0">
                <a:latin typeface="Britannic Bold" panose="020B0903060703020204" pitchFamily="34" charset="0"/>
              </a:rPr>
              <a:t>“Result Analysis”</a:t>
            </a:r>
          </a:p>
          <a:p>
            <a:pPr marL="0" indent="0" algn="ctr">
              <a:buNone/>
            </a:pPr>
            <a:endParaRPr lang="en-IN" sz="6400" dirty="0"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IN" sz="7200" b="1" dirty="0">
                <a:latin typeface="Aparajita" panose="02020603050405020304" pitchFamily="18" charset="0"/>
                <a:cs typeface="Aparajita" panose="02020603050405020304" pitchFamily="18" charset="0"/>
              </a:rPr>
              <a:t>Guided By : </a:t>
            </a:r>
            <a:r>
              <a:rPr lang="en-IN" sz="7200" dirty="0"/>
              <a:t>Dr. Shilpa P. Khedkar </a:t>
            </a:r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marL="0" indent="0">
              <a:buNone/>
            </a:pPr>
            <a:r>
              <a:rPr lang="en-IN" sz="7200" b="1" dirty="0">
                <a:latin typeface="Aparajita" panose="02020603050405020304" pitchFamily="18" charset="0"/>
                <a:cs typeface="Aparajita" panose="02020603050405020304" pitchFamily="18" charset="0"/>
              </a:rPr>
              <a:t>                                                                             Presentation By: </a:t>
            </a:r>
          </a:p>
          <a:p>
            <a:pPr marL="0" indent="0">
              <a:buNone/>
            </a:pPr>
            <a:r>
              <a:rPr lang="en-IN" sz="7200" b="1" dirty="0">
                <a:latin typeface="Aparajita" panose="02020603050405020304" pitchFamily="18" charset="0"/>
                <a:cs typeface="Aparajita" panose="02020603050405020304" pitchFamily="18" charset="0"/>
              </a:rPr>
              <a:t>                                                                             Harshavardhan Gharal </a:t>
            </a:r>
            <a:r>
              <a:rPr lang="en-IN" sz="7200" dirty="0">
                <a:latin typeface="Aparajita" panose="02020603050405020304" pitchFamily="18" charset="0"/>
                <a:cs typeface="Aparajita" panose="02020603050405020304" pitchFamily="18" charset="0"/>
              </a:rPr>
              <a:t>(F23112049) </a:t>
            </a:r>
          </a:p>
          <a:p>
            <a:pPr marL="0" indent="0">
              <a:buNone/>
            </a:pPr>
            <a:r>
              <a:rPr lang="en-IN" sz="7200" b="1" dirty="0">
                <a:latin typeface="Aparajita" panose="02020603050405020304" pitchFamily="18" charset="0"/>
                <a:cs typeface="Aparajita" panose="02020603050405020304" pitchFamily="18" charset="0"/>
              </a:rPr>
              <a:t>                                                                             Sahil </a:t>
            </a:r>
            <a:r>
              <a:rPr lang="en-IN" sz="7200" b="1" dirty="0" err="1">
                <a:latin typeface="Aparajita" panose="02020603050405020304" pitchFamily="18" charset="0"/>
                <a:cs typeface="Aparajita" panose="02020603050405020304" pitchFamily="18" charset="0"/>
              </a:rPr>
              <a:t>Dhanwade</a:t>
            </a:r>
            <a:r>
              <a:rPr lang="en-IN" sz="7200" b="1" dirty="0">
                <a:latin typeface="Aparajita" panose="02020603050405020304" pitchFamily="18" charset="0"/>
                <a:cs typeface="Aparajita" panose="02020603050405020304" pitchFamily="18" charset="0"/>
              </a:rPr>
              <a:t> (F23112076)</a:t>
            </a:r>
          </a:p>
          <a:p>
            <a:pPr marL="0" indent="0">
              <a:buNone/>
            </a:pPr>
            <a:r>
              <a:rPr lang="en-IN" sz="7200" b="1" dirty="0">
                <a:latin typeface="Aparajita" panose="02020603050405020304" pitchFamily="18" charset="0"/>
                <a:cs typeface="Aparajita" panose="02020603050405020304" pitchFamily="18" charset="0"/>
              </a:rPr>
              <a:t>                                                                             Shweta Korekar (F23112027)</a:t>
            </a:r>
          </a:p>
          <a:p>
            <a:pPr algn="ctr"/>
            <a:endParaRPr lang="en-IN" dirty="0">
              <a:latin typeface="Aparajita" panose="02020603050405020304" pitchFamily="18" charset="0"/>
              <a:cs typeface="Aparajita" panose="02020603050405020304" pitchFamily="18" charset="0"/>
            </a:endParaRPr>
          </a:p>
          <a:p>
            <a:pPr algn="ctr"/>
            <a:endParaRPr lang="en-IN" dirty="0"/>
          </a:p>
          <a:p>
            <a:pPr algn="ctr"/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3A95AD-6A47-2BE9-9E5E-EE838BBD1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" y="216310"/>
            <a:ext cx="1445342" cy="1927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706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EC7EC-8D27-28E5-73D1-71CCBB1F4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US" b="1" u="sng" dirty="0">
                <a:latin typeface="Arial Black" panose="020B0A04020102020204" pitchFamily="34" charset="0"/>
              </a:rPr>
              <a:t>INTRODUCTION</a:t>
            </a:r>
            <a:endParaRPr lang="en-IN" b="1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15C8F-FE2F-E7E4-0240-0E4C4162E3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The Result Analysis System is designed to automate the process of extracting and analyzing student result data from PDF files. Traditionally, this task is performed manually, which is time-consuming and prone to errors. This system converts unstructured PDF data into a structured Excel format and generates meaningful insights such as topper, average performance, and subject-wise analysis. It improves accuracy, reduces manual effort, and enables faster and more efficient decision-making in educational institutions.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53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53A1C-1E2A-0A7C-640D-1E031A5AC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US" b="1" u="sng" dirty="0">
                <a:latin typeface="Arial Black" panose="020B0A04020102020204" pitchFamily="34" charset="0"/>
              </a:rPr>
              <a:t>Problem STATEMENT</a:t>
            </a:r>
            <a:endParaRPr lang="en-IN" b="1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65FB9-90FD-0157-4B10-DD464143D8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Educational institutions often store student results in PDF or ledger formats, which are not suitable for direct analysis. Converting this data into a structured format requires manual effort, which is time-consuming and prone to errors. There is a need for an automated system that can extract, organize, and analyze result data efficiently, reducing manual work and improving accuracy.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00355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B333B-0A2E-31F6-2ED5-6EBC4B06D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IN" b="1" u="sng" dirty="0">
                <a:latin typeface="Arial Black" panose="020B0A04020102020204" pitchFamily="34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AA546-ABAA-2C09-EAA8-1C627C6D1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Convert result PDF into structured Excel format </a:t>
            </a:r>
          </a:p>
          <a:p>
            <a:r>
              <a:rPr lang="en-IN" sz="2800" dirty="0"/>
              <a:t>Automate data extraction and reduce manual work </a:t>
            </a:r>
          </a:p>
          <a:p>
            <a:r>
              <a:rPr lang="en-IN" sz="2800" dirty="0"/>
              <a:t>Improve accuracy and eliminate human errors </a:t>
            </a:r>
          </a:p>
          <a:p>
            <a:r>
              <a:rPr lang="en-IN" sz="2800" dirty="0"/>
              <a:t>Analyse student performance (topper, average, etc.) </a:t>
            </a:r>
          </a:p>
          <a:p>
            <a:r>
              <a:rPr lang="en-IN" sz="2800" dirty="0"/>
              <a:t>Generate subject-wise insights </a:t>
            </a:r>
          </a:p>
          <a:p>
            <a:r>
              <a:rPr lang="en-IN" sz="2800" dirty="0"/>
              <a:t>Provide a simple and user-friendly interface </a:t>
            </a:r>
          </a:p>
        </p:txBody>
      </p:sp>
    </p:spTree>
    <p:extLst>
      <p:ext uri="{BB962C8B-B14F-4D97-AF65-F5344CB8AC3E}">
        <p14:creationId xmlns:p14="http://schemas.microsoft.com/office/powerpoint/2010/main" val="27039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616A9B-F03C-526F-5924-51FD1AF5F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IN" b="1" u="sng" dirty="0">
                <a:latin typeface="Arial Black" panose="020B0A04020102020204" pitchFamily="34" charset="0"/>
              </a:rPr>
              <a:t>Existing vs Proposed System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69B44A-1F8B-EDFC-1D63-CB0B475BA2D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❌ Existing System</a:t>
            </a:r>
          </a:p>
          <a:p>
            <a:r>
              <a:rPr lang="en-US" sz="2000" dirty="0"/>
              <a:t>Manual data entry from PDF to Excel</a:t>
            </a:r>
          </a:p>
          <a:p>
            <a:r>
              <a:rPr lang="en-IN" sz="2000" dirty="0"/>
              <a:t>Time-consuming and repetitive process</a:t>
            </a:r>
          </a:p>
          <a:p>
            <a:r>
              <a:rPr lang="en-US" sz="2000" dirty="0"/>
              <a:t>Difficult to analyze large data</a:t>
            </a:r>
          </a:p>
          <a:p>
            <a:r>
              <a:rPr lang="en-US" sz="2000" dirty="0"/>
              <a:t>No proper visualization or dashboard</a:t>
            </a:r>
          </a:p>
          <a:p>
            <a:r>
              <a:rPr lang="en-IN" sz="2000" dirty="0"/>
              <a:t>Slow decision-making</a:t>
            </a:r>
            <a:endParaRPr lang="en-US" sz="2000" dirty="0"/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EC808C-2523-D905-5219-253A538179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✅ Proposed System</a:t>
            </a:r>
          </a:p>
          <a:p>
            <a:r>
              <a:rPr lang="en-US" sz="2000" dirty="0"/>
              <a:t>Automatic data extraction from PDF</a:t>
            </a:r>
          </a:p>
          <a:p>
            <a:r>
              <a:rPr lang="en-IN" sz="2000" dirty="0"/>
              <a:t>Fast and efficient processing</a:t>
            </a:r>
          </a:p>
          <a:p>
            <a:r>
              <a:rPr lang="en-IN" sz="2000" dirty="0"/>
              <a:t>Accurate and reliable results</a:t>
            </a:r>
          </a:p>
          <a:p>
            <a:r>
              <a:rPr lang="en-US" sz="2000" dirty="0"/>
              <a:t>Easy analysis of large datasets</a:t>
            </a:r>
          </a:p>
          <a:p>
            <a:r>
              <a:rPr lang="en-US" sz="2000" dirty="0"/>
              <a:t>Dashboard with graphs and insights</a:t>
            </a:r>
          </a:p>
          <a:p>
            <a:r>
              <a:rPr lang="en-IN" sz="2000" dirty="0"/>
              <a:t>Quick and better decision-making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790892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670BD59-DE5F-4248-4B57-4734FEA8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IN" b="1" u="sng" dirty="0">
                <a:latin typeface="Arial Black" panose="020B0A04020102020204" pitchFamily="34" charset="0"/>
              </a:rPr>
              <a:t>Methodology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5A2B40-DA17-B1EA-C2F8-810CCA4C0A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841242"/>
            <a:ext cx="10413123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Collect result data from PDF files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Extract student details and marks using Python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Clean the data (remove errors, missing values)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Convert data into structured tabular format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Store data in Excel file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Perform analysis (topper, average, subject-wise)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Generate graphs and insights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lang="en-US" altLang="en-US" sz="2000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Display results on dashboard </a:t>
            </a:r>
          </a:p>
        </p:txBody>
      </p:sp>
    </p:spTree>
    <p:extLst>
      <p:ext uri="{BB962C8B-B14F-4D97-AF65-F5344CB8AC3E}">
        <p14:creationId xmlns:p14="http://schemas.microsoft.com/office/powerpoint/2010/main" val="1116254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5FD34-2E69-4EE8-FB3A-694C164D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IN" b="1" u="sng" dirty="0">
                <a:latin typeface="Arial Black" panose="020B0A04020102020204" pitchFamily="34" charset="0"/>
              </a:rPr>
              <a:t>System Architecture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3EB8D1-0835-FC7B-B15A-DDAD4BC0E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Image 9">
            <a:extLst>
              <a:ext uri="{FF2B5EF4-FFF2-40B4-BE49-F238E27FC236}">
                <a16:creationId xmlns:a16="http://schemas.microsoft.com/office/drawing/2014/main" id="{711699E8-08E3-239E-DC18-7BAA6C332694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1" y="2040995"/>
            <a:ext cx="10131425" cy="4207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76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F713-EFDB-11DF-8900-03468A76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IN" b="1" u="sng" dirty="0">
                <a:latin typeface="Arial Black" panose="020B0A04020102020204" pitchFamily="34" charset="0"/>
              </a:rPr>
              <a:t>Technologies Used</a:t>
            </a:r>
            <a:br>
              <a:rPr lang="en-IN" b="1" u="sng" dirty="0">
                <a:latin typeface="Arial Black" panose="020B0A04020102020204" pitchFamily="34" charset="0"/>
              </a:rPr>
            </a:br>
            <a:endParaRPr lang="en-IN" b="1" u="sng" dirty="0">
              <a:latin typeface="Arial Black" panose="020B0A04020102020204" pitchFamily="34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C25E199-F261-B85C-FFE2-CE1615F52A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93277" y="2065867"/>
            <a:ext cx="6377151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IN" sz="2400" b="1" dirty="0"/>
              <a:t>Python</a:t>
            </a:r>
            <a:r>
              <a:rPr lang="en-IN" sz="2400" dirty="0"/>
              <a:t> – Core programming language </a:t>
            </a:r>
          </a:p>
          <a:p>
            <a:r>
              <a:rPr lang="en-IN" sz="2400" b="1" dirty="0" err="1"/>
              <a:t>pdfplumber</a:t>
            </a:r>
            <a:r>
              <a:rPr lang="en-IN" sz="2400" dirty="0"/>
              <a:t> – Extract data from PDF files </a:t>
            </a:r>
          </a:p>
          <a:p>
            <a:r>
              <a:rPr lang="en-IN" sz="2400" b="1" dirty="0"/>
              <a:t>Pandas</a:t>
            </a:r>
            <a:r>
              <a:rPr lang="en-IN" sz="2400" dirty="0"/>
              <a:t> – Data processing and analysis </a:t>
            </a:r>
          </a:p>
          <a:p>
            <a:r>
              <a:rPr lang="en-IN" sz="2400" b="1" dirty="0"/>
              <a:t>NumPy</a:t>
            </a:r>
            <a:r>
              <a:rPr lang="en-IN" sz="2400" dirty="0"/>
              <a:t> – Numerical operations </a:t>
            </a:r>
          </a:p>
          <a:p>
            <a:r>
              <a:rPr lang="en-IN" sz="2400" b="1" dirty="0"/>
              <a:t>Matplotlib</a:t>
            </a:r>
            <a:r>
              <a:rPr lang="en-IN" sz="2400" dirty="0"/>
              <a:t> – Data visualization (graphs) </a:t>
            </a:r>
          </a:p>
          <a:p>
            <a:r>
              <a:rPr lang="en-IN" sz="2400" b="1" dirty="0" err="1"/>
              <a:t>OpenPyXL</a:t>
            </a:r>
            <a:r>
              <a:rPr lang="en-IN" sz="2400" dirty="0"/>
              <a:t> – Excel file handling </a:t>
            </a:r>
          </a:p>
          <a:p>
            <a:r>
              <a:rPr lang="en-IN" sz="2400" b="1" dirty="0" err="1"/>
              <a:t>Tkinter</a:t>
            </a:r>
            <a:r>
              <a:rPr lang="en-IN" sz="2400" dirty="0"/>
              <a:t> – GUI development </a:t>
            </a:r>
          </a:p>
        </p:txBody>
      </p:sp>
    </p:spTree>
    <p:extLst>
      <p:ext uri="{BB962C8B-B14F-4D97-AF65-F5344CB8AC3E}">
        <p14:creationId xmlns:p14="http://schemas.microsoft.com/office/powerpoint/2010/main" val="146902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1EF48-AE1A-B139-D1E5-E5B475601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US" b="1" u="sng" dirty="0">
                <a:latin typeface="Arial Black" panose="020B0A04020102020204" pitchFamily="34" charset="0"/>
              </a:rPr>
              <a:t>RESULTS</a:t>
            </a:r>
            <a:endParaRPr lang="en-IN" b="1" u="sng" dirty="0">
              <a:latin typeface="Arial Black" panose="020B0A040201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EDE539D-9A52-5C18-C866-1FAB731643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758091"/>
            <a:ext cx="8103950" cy="37548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Successfully converted PDF result data into Excel format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Accurate extraction of student details and marks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Generated insights like topper, average CGPA, and subject analysis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Displayed results through a user-friendly dashboard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Visualized data using graphs (CGPA distribution)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Reduced manual effort and improved efficiency </a:t>
            </a:r>
          </a:p>
        </p:txBody>
      </p:sp>
    </p:spTree>
    <p:extLst>
      <p:ext uri="{BB962C8B-B14F-4D97-AF65-F5344CB8AC3E}">
        <p14:creationId xmlns:p14="http://schemas.microsoft.com/office/powerpoint/2010/main" val="3504372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603A-D3A1-C86E-29B2-D58D496AB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IN" b="1" u="sng" dirty="0">
                <a:latin typeface="Arial Black" panose="020B0A04020102020204" pitchFamily="34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4E720-9AA9-E745-FE7F-D220DDC48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Handling different PDF formats and layouts </a:t>
            </a:r>
          </a:p>
          <a:p>
            <a:r>
              <a:rPr lang="en-IN" sz="2400" dirty="0"/>
              <a:t>Extracting accurate data from unstructured files </a:t>
            </a:r>
          </a:p>
          <a:p>
            <a:r>
              <a:rPr lang="en-IN" sz="2400" dirty="0"/>
              <a:t>Managing missing or inconsistent data </a:t>
            </a:r>
          </a:p>
          <a:p>
            <a:r>
              <a:rPr lang="en-IN" sz="2400" dirty="0"/>
              <a:t>Designing efficient regex for data extraction </a:t>
            </a:r>
          </a:p>
          <a:p>
            <a:r>
              <a:rPr lang="en-IN" sz="2400" dirty="0"/>
              <a:t>Integrating backend processing with GUI </a:t>
            </a:r>
          </a:p>
          <a:p>
            <a:r>
              <a:rPr lang="en-IN" sz="2400" dirty="0"/>
              <a:t>Ensuring accuracy in analysis results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844944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39B-7CA7-27DD-F3A2-6F0A31B5D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IN" b="1" u="sng" dirty="0">
                <a:latin typeface="Arial Black" panose="020B0A04020102020204" pitchFamily="34" charset="0"/>
              </a:rPr>
              <a:t>Applications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A3DD75A-399D-ADD0-D953-3F03D8FA94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750643"/>
            <a:ext cx="8263801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colleges for result analysis and reporting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teachers evaluate student performance quickly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Useful for generating automated reports and insights 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integrated into academic management systems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data-driven decision making in education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 be extended to other data analysis applications </a:t>
            </a:r>
          </a:p>
        </p:txBody>
      </p:sp>
    </p:spTree>
    <p:extLst>
      <p:ext uri="{BB962C8B-B14F-4D97-AF65-F5344CB8AC3E}">
        <p14:creationId xmlns:p14="http://schemas.microsoft.com/office/powerpoint/2010/main" val="3157460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2AC13-4A4F-5126-678A-7B7D35590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IN" b="1" u="sng" dirty="0">
                <a:latin typeface="Arial Black" panose="020B0A04020102020204" pitchFamily="34" charset="0"/>
              </a:rP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C7329B-D7AB-223E-E750-084BF986508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519812"/>
            <a:ext cx="6918882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web-based or mobile application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multiple PDF formats and universities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advanced data visualization and analytics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with college database systems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 real-time result processing 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AI/ML for deeper performance analysis </a:t>
            </a:r>
          </a:p>
        </p:txBody>
      </p:sp>
    </p:spTree>
    <p:extLst>
      <p:ext uri="{BB962C8B-B14F-4D97-AF65-F5344CB8AC3E}">
        <p14:creationId xmlns:p14="http://schemas.microsoft.com/office/powerpoint/2010/main" val="4153693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0980C-7261-8BE7-B1B8-D6B41D6D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US" b="1" u="sng" dirty="0">
                <a:latin typeface="Arial Black" panose="020B0A04020102020204" pitchFamily="34" charset="0"/>
              </a:rPr>
              <a:t>CONCLUSION</a:t>
            </a:r>
            <a:endParaRPr lang="en-IN" b="1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1BC1C-C52C-0FC9-5837-8F2F4D032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Result Analysis System successfully automates the process of converting result data from PDF files into a structured Excel format. It generates meaningful insights such as topper identification, subject-wise performance, and graphical analysis. The system reduces manual effort, improves accuracy, and provides a user-friendly interface for easy use. Overall, it offers an efficient solution for faster and more effective result analysis in educational institutions.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86766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57B6-EA59-B9AB-2BD5-B0465EE5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 algn="ctr">
              <a:buFont typeface="Wingdings" panose="05000000000000000000" pitchFamily="2" charset="2"/>
              <a:buChar char="v"/>
            </a:pPr>
            <a:r>
              <a:rPr lang="en-US" b="1" u="sng" dirty="0">
                <a:latin typeface="Arial Black" panose="020B0A04020102020204" pitchFamily="34" charset="0"/>
              </a:rPr>
              <a:t>REFRENCES</a:t>
            </a:r>
            <a:endParaRPr lang="en-IN" b="1" u="sng" dirty="0"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33750-A042-2021-7ED0-A23D62A1D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b="1" dirty="0"/>
          </a:p>
          <a:p>
            <a:r>
              <a:rPr lang="en-IN" dirty="0"/>
              <a:t>Python Official Documentation – </a:t>
            </a:r>
            <a:r>
              <a:rPr lang="en-IN" dirty="0">
                <a:hlinkClick r:id="rId2"/>
              </a:rPr>
              <a:t>https://www.python.org</a:t>
            </a:r>
            <a:r>
              <a:rPr lang="en-IN" dirty="0"/>
              <a:t> </a:t>
            </a:r>
          </a:p>
          <a:p>
            <a:r>
              <a:rPr lang="en-IN" dirty="0"/>
              <a:t>Pandas Documentation – </a:t>
            </a:r>
            <a:r>
              <a:rPr lang="en-IN" dirty="0">
                <a:hlinkClick r:id="rId3"/>
              </a:rPr>
              <a:t>https://pandas.pydata.org</a:t>
            </a:r>
            <a:r>
              <a:rPr lang="en-IN" dirty="0"/>
              <a:t> </a:t>
            </a:r>
          </a:p>
          <a:p>
            <a:r>
              <a:rPr lang="en-IN" dirty="0"/>
              <a:t>NumPy Documentation – </a:t>
            </a:r>
            <a:r>
              <a:rPr lang="en-IN" dirty="0">
                <a:hlinkClick r:id="rId4"/>
              </a:rPr>
              <a:t>https://numpy.org</a:t>
            </a:r>
            <a:r>
              <a:rPr lang="en-IN" dirty="0"/>
              <a:t> </a:t>
            </a:r>
          </a:p>
          <a:p>
            <a:r>
              <a:rPr lang="en-IN" dirty="0"/>
              <a:t>Matplotlib Documentation – </a:t>
            </a:r>
            <a:r>
              <a:rPr lang="en-IN" dirty="0">
                <a:hlinkClick r:id="rId5"/>
              </a:rPr>
              <a:t>https://matplotlib.org</a:t>
            </a:r>
            <a:r>
              <a:rPr lang="en-IN" dirty="0"/>
              <a:t> </a:t>
            </a:r>
          </a:p>
          <a:p>
            <a:r>
              <a:rPr lang="en-IN" dirty="0" err="1"/>
              <a:t>OpenPyXL</a:t>
            </a:r>
            <a:r>
              <a:rPr lang="en-IN" dirty="0"/>
              <a:t> Documentation – </a:t>
            </a:r>
            <a:r>
              <a:rPr lang="en-IN" dirty="0">
                <a:hlinkClick r:id="rId6"/>
              </a:rPr>
              <a:t>https://openpyxl.readthedocs.io</a:t>
            </a:r>
            <a:r>
              <a:rPr lang="en-IN" dirty="0"/>
              <a:t> </a:t>
            </a:r>
          </a:p>
          <a:p>
            <a:r>
              <a:rPr lang="en-IN" dirty="0" err="1"/>
              <a:t>pdfplumber</a:t>
            </a:r>
            <a:r>
              <a:rPr lang="en-IN" dirty="0"/>
              <a:t> Documentation – </a:t>
            </a:r>
            <a:r>
              <a:rPr lang="en-IN" dirty="0">
                <a:hlinkClick r:id="rId7"/>
              </a:rPr>
              <a:t>https://github.com/jsvine/pdfplumber</a:t>
            </a:r>
            <a:r>
              <a:rPr lang="en-IN" dirty="0"/>
              <a:t> </a:t>
            </a:r>
          </a:p>
          <a:p>
            <a:r>
              <a:rPr lang="en-IN" dirty="0"/>
              <a:t>W3Schools Python Tutorial – </a:t>
            </a:r>
            <a:r>
              <a:rPr lang="en-IN" dirty="0">
                <a:hlinkClick r:id="rId8"/>
              </a:rPr>
              <a:t>https://www.w3schools.com/python/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64929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6F178-5E60-E071-ECB7-E1F5B3ADA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EEFF7-4F45-9E18-E8DE-031C2517C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/>
              <a:t>THANKS!!!!!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274136681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87</TotalTime>
  <Words>739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Algerian</vt:lpstr>
      <vt:lpstr>Aparajita</vt:lpstr>
      <vt:lpstr>Arial</vt:lpstr>
      <vt:lpstr>Arial Black</vt:lpstr>
      <vt:lpstr>Britannic Bold</vt:lpstr>
      <vt:lpstr>Calibri</vt:lpstr>
      <vt:lpstr>Calibri Light</vt:lpstr>
      <vt:lpstr>Wingdings</vt:lpstr>
      <vt:lpstr>Celestial</vt:lpstr>
      <vt:lpstr> Modern Education Society’s Wadia College OF  Engineering, Pune – 14  ACCREDITED BY NBA AND NAAC WITH A ++ GRADE  A.Y.: 2025-26 </vt:lpstr>
      <vt:lpstr>INTRODUCTION</vt:lpstr>
      <vt:lpstr>Problem STATEMENT</vt:lpstr>
      <vt:lpstr>Objective</vt:lpstr>
      <vt:lpstr>Existing vs Proposed System</vt:lpstr>
      <vt:lpstr>Methodology</vt:lpstr>
      <vt:lpstr>System Architecture</vt:lpstr>
      <vt:lpstr>Technologies Used </vt:lpstr>
      <vt:lpstr>RESULTS</vt:lpstr>
      <vt:lpstr>Challenges Faced</vt:lpstr>
      <vt:lpstr>Applications</vt:lpstr>
      <vt:lpstr>Future Scope</vt:lpstr>
      <vt:lpstr>CONCLUSION</vt:lpstr>
      <vt:lpstr>REFRENCES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Holam</dc:creator>
  <cp:lastModifiedBy>Harshavardhan Gharal</cp:lastModifiedBy>
  <cp:revision>2</cp:revision>
  <dcterms:created xsi:type="dcterms:W3CDTF">2026-04-23T15:47:02Z</dcterms:created>
  <dcterms:modified xsi:type="dcterms:W3CDTF">2026-04-24T05:11:46Z</dcterms:modified>
</cp:coreProperties>
</file>